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5347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143000"/>
            <a:ext cx="106984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BTP: EMI Effects in Voltage-to-Time Converters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143000" y="246888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AFC0CF"/>
                </a:solidFill>
              </a:rPr>
              <a:t>Analysis, Cadence exploration, and differential EMI-cancellation architecture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43000" y="416052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5F8FC"/>
                </a:solidFill>
              </a:rPr>
              <a:t>G. Jaidev | 2023EEB1200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5F8FC"/>
                </a:solidFill>
              </a:rPr>
              <a:t>Guide: Prof. Devarshi Mrinal Das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F5F8FC"/>
                </a:solidFill>
              </a:rPr>
              <a:t>Department of Electrical Engineering, IIT Ropar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430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Story: From VTC to EMI-Robust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4892040" cy="5349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mid-semester: common VCDU/VTC foundation, PVT study, Monte Carlo and EMI base-paper analysis.</a:t>
            </a:r>
            <a:endParaRPr lang="en-US" sz="1550" dirty="0"/>
          </a:p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mid-semester: BTP diverged toward EMI reduction using differential delay architectures.</a:t>
            </a:r>
            <a:endParaRPr lang="en-US" sz="1550" dirty="0"/>
          </a:p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research question: how can common-mode EMI be reduced after voltage is converted to time?</a:t>
            </a:r>
            <a:endParaRPr lang="en-US" sz="1550" dirty="0"/>
          </a:p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direction: compressed small-signal differential control around 0.9 V.</a:t>
            </a:r>
            <a:endParaRPr lang="en-US" sz="1550" dirty="0"/>
          </a:p>
        </p:txBody>
      </p:sp>
      <p:pic>
        <p:nvPicPr>
          <p:cNvPr id="4" name="Image 0" descr="/mnt/data/polished_deliverables/figs/base_vt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914" y="960120"/>
            <a:ext cx="4722612" cy="5074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23560" y="6053328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Baseline VTC from literature: two VCDU paths generate a time difference.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F8FC"/>
                </a:solidFill>
              </a:rPr>
              <a:t>Pre-Midsemester Foundation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188720" y="3127248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B347"/>
                </a:solidFill>
              </a:rPr>
              <a:t>VCDU/VTC operation, PVT variation, and baseline EMI susceptibility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430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Baseline VCDU/VTC Principle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4892040" cy="5349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VCDU delays an input edge according to a control voltage.</a:t>
            </a:r>
            <a:endParaRPr lang="en-US" sz="1550" dirty="0"/>
          </a:p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VCDUs form a VTC: one input-controlled path and one reference path.</a:t>
            </a:r>
            <a:endParaRPr lang="en-US" sz="1550" dirty="0"/>
          </a:p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is measured as a time difference, not an absolute voltage.</a:t>
            </a:r>
            <a:endParaRPr lang="en-US" sz="1550" dirty="0"/>
          </a:p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structure is useful for TMSP but still sensitive to timing disturbances.</a:t>
            </a:r>
            <a:endParaRPr lang="en-US" sz="1550" dirty="0"/>
          </a:p>
        </p:txBody>
      </p:sp>
      <p:pic>
        <p:nvPicPr>
          <p:cNvPr id="4" name="Image 0" descr="/mnt/data/polished_deliverables/figs/base_vt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914" y="960120"/>
            <a:ext cx="4722612" cy="5074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23560" y="6053328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Pre-midsem baseline VTC architecture.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430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Delay Model Used Throughout BTP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4892040" cy="5303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 is the capacitor discharge time until the inverter threshold is crossed.</a:t>
            </a:r>
            <a:endParaRPr lang="en-US" sz="1450" dirty="0"/>
          </a:p>
          <a:p>
            <a:r>
              <a:rPr lang="en-US" sz="14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perturbation in current or threshold appears as timing jitter.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715000" y="1024128"/>
            <a:ext cx="5989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B3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I_dis = - C_L dV_C/dt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715000" y="1591056"/>
            <a:ext cx="5989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B3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t_d = C_L Delta V / I_ctrl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715000" y="2157984"/>
            <a:ext cx="5989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B3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Delta I ~= g_m Delta V_ctrl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15000" y="2724912"/>
            <a:ext cx="5989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B3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Delta t_d ~= -(C_L Delta V / I_0^2) Delta I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430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PVT and Monte Carlo: Single VCDU Sensitivity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111556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3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VCDU delay varies strongly with process, voltage, temperature and mismatch; this was established in the mid-semester work.</a:t>
            </a:r>
            <a:endParaRPr lang="en-US" sz="1330" dirty="0"/>
          </a:p>
        </p:txBody>
      </p:sp>
      <p:pic>
        <p:nvPicPr>
          <p:cNvPr id="4" name="Image 0" descr="/mnt/data/polished_deliverables/figs/base_pvt_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82037"/>
            <a:ext cx="5463540" cy="32369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5961888"/>
            <a:ext cx="54635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Monte Carlo distribution / delay spread</a:t>
            </a:r>
            <a:endParaRPr lang="en-US" sz="850" dirty="0"/>
          </a:p>
        </p:txBody>
      </p:sp>
      <p:pic>
        <p:nvPicPr>
          <p:cNvPr id="6" name="Image 1" descr="/mnt/data/polished_deliverables/figs/base_pvt_sum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5060" y="2497598"/>
            <a:ext cx="5463540" cy="300580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5060" y="5961888"/>
            <a:ext cx="54635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Cadence summary table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430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Dual VCDU Helps With PVT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4892040" cy="5349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VCDU: absolute delay includes PVT shift.</a:t>
            </a:r>
            <a:endParaRPr lang="en-US" sz="1550" dirty="0"/>
          </a:p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Dual VCDU/VTC: output is a difference of two similar paths.</a:t>
            </a:r>
            <a:endParaRPr lang="en-US" sz="1550" dirty="0"/>
          </a:p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PVT delay shifts cancel approximately in Delta T.</a:t>
            </a:r>
            <a:endParaRPr lang="en-US" sz="1550" dirty="0"/>
          </a:p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improves timing stability, but does not cancel unequal EMI coupling.</a:t>
            </a:r>
            <a:endParaRPr lang="en-US" sz="1550" dirty="0"/>
          </a:p>
        </p:txBody>
      </p:sp>
      <p:pic>
        <p:nvPicPr>
          <p:cNvPr id="4" name="Image 0" descr="/mnt/data/polished_deliverables/figs/mid_dual_vcdu_pvt_slide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951627"/>
            <a:ext cx="5989320" cy="30919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23560" y="6053328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Mid-sem insight: common PVT variation reduces in dual VCDU/VTC.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430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Baseline EMI Injection: Core Observation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 was modelled as a sinusoidal disturbance. Amplitude, phase and frequency all affect delay.</a:t>
            </a:r>
            <a:endParaRPr lang="en-US" sz="1150" dirty="0"/>
          </a:p>
        </p:txBody>
      </p:sp>
      <p:pic>
        <p:nvPicPr>
          <p:cNvPr id="4" name="Image 0" descr="/mnt/data/polished_deliverables/figs/base_emi_v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20179"/>
            <a:ext cx="5477256" cy="37149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190488"/>
            <a:ext cx="5477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EMI injected at V_in</a:t>
            </a:r>
            <a:endParaRPr lang="en-US" sz="850" dirty="0"/>
          </a:p>
        </p:txBody>
      </p:sp>
      <p:pic>
        <p:nvPicPr>
          <p:cNvPr id="6" name="Image 1" descr="/mnt/data/polished_deliverables/figs/base_emi_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2129514"/>
            <a:ext cx="5477256" cy="36962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81344" y="6190488"/>
            <a:ext cx="5477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All-pin EMI scenario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430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EMI Phase Matters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4892040" cy="5303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VTC makes a timing decision at one instant. The EMI value at that instant determines edge advance/delay.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715000" y="1024128"/>
            <a:ext cx="5989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B3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v_emi(t)=A_emi sin(2*pi*f_emi*t + phi)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715000" y="1591056"/>
            <a:ext cx="5989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B3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v_emi(t_s)=A_emi sin(2*pi*f_emi*t_s + phi)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715000" y="2157984"/>
            <a:ext cx="5989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5F8F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Delta t_d proportional to v_emi(t_s)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15000" y="2724912"/>
            <a:ext cx="5989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5F8F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Worst-case: max_phi |Delta t_d(phi)|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430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Baseline VTC Frequency/Phase Sweep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results motivated the BTP: average delay is not enough; worst-case phase at GHz frequency can be much larger.</a:t>
            </a:r>
            <a:endParaRPr lang="en-US" sz="1150" dirty="0"/>
          </a:p>
        </p:txBody>
      </p:sp>
      <p:pic>
        <p:nvPicPr>
          <p:cNvPr id="4" name="Image 0" descr="/mnt/data/polished_deliverables/figs/baseline_avg_fre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70725"/>
            <a:ext cx="3584448" cy="24138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190488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Average delay increases with frequency</a:t>
            </a:r>
            <a:endParaRPr lang="en-US" sz="850" dirty="0"/>
          </a:p>
        </p:txBody>
      </p:sp>
      <p:pic>
        <p:nvPicPr>
          <p:cNvPr id="6" name="Image 1" descr="/mnt/data/polished_deliverables/figs/baseline_freq_ph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2830500"/>
            <a:ext cx="3584448" cy="22942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88536" y="6190488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Delay depends on phase and frequency</a:t>
            </a:r>
            <a:endParaRPr lang="en-US" sz="850" dirty="0"/>
          </a:p>
        </p:txBody>
      </p:sp>
      <p:pic>
        <p:nvPicPr>
          <p:cNvPr id="8" name="Image 2" descr="/mnt/data/polished_deliverables/figs/baseline_worst_ph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152" y="2822812"/>
            <a:ext cx="3584448" cy="230965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74152" y="6190488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Worst-case phase peak at high frequency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F8FC"/>
                </a:solidFill>
              </a:rPr>
              <a:t>Post-Midsemester Circuit Exploration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188720" y="3127248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B347"/>
                </a:solidFill>
              </a:rPr>
              <a:t>Differential delay cells tried after the scope diverged from DEP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430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Differential Delay-Cell Literature Survey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topologies were reviewed and implemented/analyzed as candidates before choosing the final direction.</a:t>
            </a:r>
            <a:endParaRPr lang="en-US" sz="1150" dirty="0"/>
          </a:p>
        </p:txBody>
      </p:sp>
      <p:pic>
        <p:nvPicPr>
          <p:cNvPr id="4" name="Image 0" descr="/mnt/data/polished_deliverables/figs/lit_bas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3544"/>
            <a:ext cx="3584448" cy="28281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190488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Basic differential delay cell</a:t>
            </a:r>
            <a:endParaRPr lang="en-US" sz="850" dirty="0"/>
          </a:p>
        </p:txBody>
      </p:sp>
      <p:pic>
        <p:nvPicPr>
          <p:cNvPr id="6" name="Image 1" descr="/mnt/data/polished_deliverables/figs/lit_s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2701695"/>
            <a:ext cx="3584448" cy="25518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88536" y="6190488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SET-hardened complementary differential cell</a:t>
            </a:r>
            <a:endParaRPr lang="en-US" sz="850" dirty="0"/>
          </a:p>
        </p:txBody>
      </p:sp>
      <p:pic>
        <p:nvPicPr>
          <p:cNvPr id="8" name="Image 2" descr="/mnt/data/polished_deliverables/figs/lit_input_co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152" y="2895392"/>
            <a:ext cx="3584448" cy="21644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74152" y="6190488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Input-conditioned / dual-path delay cell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430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Basic Differential Delay Was the Starting Point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4892040" cy="5349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Differential signalling can reject common-mode noise in principle.</a:t>
            </a:r>
            <a:endParaRPr lang="en-US" sz="1550" dirty="0"/>
          </a:p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both branches receive the same EMI, subtraction cancels it.</a:t>
            </a:r>
            <a:endParaRPr lang="en-US" sz="1550" dirty="0"/>
          </a:p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 the delay cell must still give clean, monotonic voltage-to-time conversion.</a:t>
            </a:r>
            <a:endParaRPr lang="en-US" sz="1550" dirty="0"/>
          </a:p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became the selection criterion for later attempts.</a:t>
            </a:r>
            <a:endParaRPr lang="en-US" sz="1550" dirty="0"/>
          </a:p>
        </p:txBody>
      </p:sp>
      <p:pic>
        <p:nvPicPr>
          <p:cNvPr id="4" name="Image 0" descr="/mnt/data/polished_deliverables/figs/lit_bas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134741"/>
            <a:ext cx="5989320" cy="47256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23560" y="6053328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Basic differential delay concept.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430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SET-Hardened CDC Implementation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cell was studied because its cross-coupled feedback gives strong switching and robustness.</a:t>
            </a:r>
            <a:endParaRPr lang="en-US" sz="1150" dirty="0"/>
          </a:p>
        </p:txBody>
      </p:sp>
      <p:pic>
        <p:nvPicPr>
          <p:cNvPr id="4" name="Image 0" descr="/mnt/data/polished_deliverables/figs/set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639016"/>
            <a:ext cx="3584448" cy="2677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190488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Internal Cadence schematic</a:t>
            </a:r>
            <a:endParaRPr lang="en-US" sz="850" dirty="0"/>
          </a:p>
        </p:txBody>
      </p:sp>
      <p:pic>
        <p:nvPicPr>
          <p:cNvPr id="6" name="Image 1" descr="/mnt/data/polished_deliverables/figs/set_t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2631963"/>
            <a:ext cx="3584448" cy="26913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88536" y="6190488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Testbench</a:t>
            </a:r>
            <a:endParaRPr lang="en-US" sz="850" dirty="0"/>
          </a:p>
        </p:txBody>
      </p:sp>
      <p:pic>
        <p:nvPicPr>
          <p:cNvPr id="8" name="Image 2" descr="/mnt/data/polished_deliverables/figs/set_del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152" y="2822298"/>
            <a:ext cx="3584448" cy="23106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74152" y="6190488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Measured delay response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430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SET-H CDC: Insight and Limitation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4892040" cy="5349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for robust/latch-like switching, not automatically good for VTC conversion.</a:t>
            </a:r>
            <a:endParaRPr lang="en-US" sz="1550" dirty="0"/>
          </a:p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 tuning was weak/nonlinear over the input sweep.</a:t>
            </a:r>
            <a:endParaRPr lang="en-US" sz="1550" dirty="0"/>
          </a:p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Cross-coupled feedback caused abrupt transition behaviour.</a:t>
            </a:r>
            <a:endParaRPr lang="en-US" sz="1550" dirty="0"/>
          </a:p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used as design-learning block, not final architecture.</a:t>
            </a:r>
            <a:endParaRPr lang="en-US" sz="1550" dirty="0"/>
          </a:p>
        </p:txBody>
      </p:sp>
      <p:pic>
        <p:nvPicPr>
          <p:cNvPr id="4" name="Image 0" descr="/mnt/data/polished_deliverables/figs/set_de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567098"/>
            <a:ext cx="5989320" cy="38609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23560" y="6053328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Delay response was not smooth enough for final VTC.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430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Input-Conditioned Delay Cell Implementation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cell was a separate and important attempt; it was not the same as the SET-H CDC.</a:t>
            </a:r>
            <a:endParaRPr lang="en-US" sz="1150" dirty="0"/>
          </a:p>
        </p:txBody>
      </p:sp>
      <p:pic>
        <p:nvPicPr>
          <p:cNvPr id="4" name="Image 0" descr="/mnt/data/polished_deliverables/figs/input_cond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123" y="1783080"/>
            <a:ext cx="2332850" cy="19888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3790188"/>
            <a:ext cx="5477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Internal schematic</a:t>
            </a:r>
            <a:endParaRPr lang="en-US" sz="850" dirty="0"/>
          </a:p>
        </p:txBody>
      </p:sp>
      <p:pic>
        <p:nvPicPr>
          <p:cNvPr id="6" name="Image 1" descr="/mnt/data/polished_deliverables/figs/input_cond_t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033" y="1783080"/>
            <a:ext cx="2935877" cy="19888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81344" y="3790188"/>
            <a:ext cx="5477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Testbench</a:t>
            </a:r>
            <a:endParaRPr lang="en-US" sz="850" dirty="0"/>
          </a:p>
        </p:txBody>
      </p:sp>
      <p:pic>
        <p:nvPicPr>
          <p:cNvPr id="8" name="Image 2" descr="/mnt/data/polished_deliverables/figs/input_cond_transi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628" y="4183380"/>
            <a:ext cx="4449839" cy="19888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02920" y="6190488"/>
            <a:ext cx="5477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Differential transient</a:t>
            </a:r>
            <a:endParaRPr lang="en-US" sz="850" dirty="0"/>
          </a:p>
        </p:txBody>
      </p:sp>
      <p:pic>
        <p:nvPicPr>
          <p:cNvPr id="10" name="Image 3" descr="/mnt/data/polished_deliverables/figs/input_cond_del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4093" y="4183380"/>
            <a:ext cx="4211758" cy="19888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81344" y="6190488"/>
            <a:ext cx="5477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Delay response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430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Input-Conditioned Cell: Why Rejected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4892040" cy="5349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Auxiliary control paths made biasing difficult.</a:t>
            </a:r>
            <a:endParaRPr lang="en-US" sz="1550" dirty="0"/>
          </a:p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Transient output had overshoot/settling and limited clean swing.</a:t>
            </a:r>
            <a:endParaRPr lang="en-US" sz="1550" dirty="0"/>
          </a:p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 extraction became threshold-dependent.</a:t>
            </a:r>
            <a:endParaRPr lang="en-US" sz="1550" dirty="0"/>
          </a:p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not suitable as the main VTC delay core.</a:t>
            </a:r>
            <a:endParaRPr lang="en-US" sz="1550" dirty="0"/>
          </a:p>
        </p:txBody>
      </p:sp>
      <p:pic>
        <p:nvPicPr>
          <p:cNvPr id="4" name="Image 0" descr="/mnt/data/polished_deliverables/figs/input_cond_de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083482"/>
            <a:ext cx="5989320" cy="28281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23560" y="6053328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Irregular delay response under sweep.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F8FC"/>
                </a:solidFill>
              </a:rPr>
              <a:t>Custom Differential Attempts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188720" y="3127248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B347"/>
                </a:solidFill>
              </a:rPr>
              <a:t>What was built in Cadence and why some versions were rejected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430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Direct Differential-Pair Controlled Delay Cell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custom attempt: use a differential pair output to control the differential delay current.</a:t>
            </a:r>
            <a:endParaRPr lang="en-US" sz="1150" dirty="0"/>
          </a:p>
        </p:txBody>
      </p:sp>
      <p:pic>
        <p:nvPicPr>
          <p:cNvPr id="4" name="Image 0" descr="/mnt/data/polished_deliverables/figs/direct_basic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054764"/>
            <a:ext cx="3584448" cy="184575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190488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Conceptual differential delay architecture</a:t>
            </a:r>
            <a:endParaRPr lang="en-US" sz="850" dirty="0"/>
          </a:p>
        </p:txBody>
      </p:sp>
      <p:pic>
        <p:nvPicPr>
          <p:cNvPr id="6" name="Image 1" descr="/mnt/data/polished_deliverables/figs/direct_basic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3082517"/>
            <a:ext cx="3584448" cy="179024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88536" y="6190488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Expanded schematic</a:t>
            </a:r>
            <a:endParaRPr lang="en-US" sz="850" dirty="0"/>
          </a:p>
        </p:txBody>
      </p:sp>
      <p:pic>
        <p:nvPicPr>
          <p:cNvPr id="8" name="Image 2" descr="/mnt/data/polished_deliverables/figs/direct_t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152" y="2742273"/>
            <a:ext cx="3584448" cy="247073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74152" y="6190488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Cadence testbench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430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Problem: Differential Input Became Single-Ended Control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4892040" cy="5349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front-end was differential, but later the control was effectively single-ended.</a:t>
            </a:r>
            <a:endParaRPr lang="en-US" sz="1550" dirty="0"/>
          </a:p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Common-mode/supply disturbance re-entered the control current.</a:t>
            </a:r>
            <a:endParaRPr lang="en-US" sz="1550" dirty="0"/>
          </a:p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Rising and falling delays became unbalanced.</a:t>
            </a:r>
            <a:endParaRPr lang="en-US" sz="1550" dirty="0"/>
          </a:p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explained why differential structure alone was not enough.</a:t>
            </a:r>
            <a:endParaRPr lang="en-US" sz="1550" dirty="0"/>
          </a:p>
        </p:txBody>
      </p:sp>
      <p:pic>
        <p:nvPicPr>
          <p:cNvPr id="4" name="Image 0" descr="/mnt/data/polished_deliverables/figs/direct_delay_mism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610723"/>
            <a:ext cx="5989320" cy="37737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23560" y="6053328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Rising/falling delay mismatch.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430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Direct Attempt: Waveforms and Delay Issues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figures are kept because they explain the actual design challenge, not as final success claims.</a:t>
            </a:r>
            <a:endParaRPr lang="en-US" sz="1150" dirty="0"/>
          </a:p>
        </p:txBody>
      </p:sp>
      <p:pic>
        <p:nvPicPr>
          <p:cNvPr id="4" name="Image 0" descr="/mnt/data/polished_deliverables/figs/direct_trans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904" y="1783080"/>
            <a:ext cx="4515288" cy="19888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3790188"/>
            <a:ext cx="5477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Differential transient output</a:t>
            </a:r>
            <a:endParaRPr lang="en-US" sz="850" dirty="0"/>
          </a:p>
        </p:txBody>
      </p:sp>
      <p:pic>
        <p:nvPicPr>
          <p:cNvPr id="6" name="Image 1" descr="/mnt/data/polished_deliverables/figs/direct_two_pa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7040" y="1783080"/>
            <a:ext cx="1925865" cy="19888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81344" y="3790188"/>
            <a:ext cx="5477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Two-path VTC testbench</a:t>
            </a:r>
            <a:endParaRPr lang="en-US" sz="850" dirty="0"/>
          </a:p>
        </p:txBody>
      </p:sp>
      <p:pic>
        <p:nvPicPr>
          <p:cNvPr id="8" name="Image 2" descr="/mnt/data/polished_deliverables/figs/direct_delay_bi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7203" y="4183380"/>
            <a:ext cx="2228689" cy="19888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02920" y="6190488"/>
            <a:ext cx="5477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Delay curve</a:t>
            </a:r>
            <a:endParaRPr lang="en-US" sz="850" dirty="0"/>
          </a:p>
        </p:txBody>
      </p:sp>
      <p:pic>
        <p:nvPicPr>
          <p:cNvPr id="10" name="Image 3" descr="/mnt/data/polished_deliverables/figs/direct_delay_mismat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1728" y="4183380"/>
            <a:ext cx="3156487" cy="19888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81344" y="6190488"/>
            <a:ext cx="5477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Edge mismatch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F8FC"/>
                </a:solidFill>
              </a:rPr>
              <a:t>EMI Analysis of Intermediate 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188720" y="3127248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B347"/>
                </a:solidFill>
              </a:rPr>
              <a:t>Systematic sweeps across amplitude, phase, control voltage and injection ports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430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EMI Sweep Setup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Amplitude, phase and control voltage were swept; EMI was injected through different ports.</a:t>
            </a:r>
            <a:endParaRPr lang="en-US" sz="1150" dirty="0"/>
          </a:p>
        </p:txBody>
      </p:sp>
      <p:pic>
        <p:nvPicPr>
          <p:cNvPr id="4" name="Image 0" descr="/mnt/data/polished_deliverables/figs/emi_sweep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727972"/>
            <a:ext cx="5477256" cy="499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190488"/>
            <a:ext cx="5477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Sweep variables</a:t>
            </a:r>
            <a:endParaRPr lang="en-US" sz="850" dirty="0"/>
          </a:p>
        </p:txBody>
      </p:sp>
      <p:pic>
        <p:nvPicPr>
          <p:cNvPr id="6" name="Image 1" descr="/mnt/data/polished_deliverables/figs/emi_all_t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4246" y="1783080"/>
            <a:ext cx="3651453" cy="43891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81344" y="6190488"/>
            <a:ext cx="5477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All-port / multi-port EMI testbench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430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Intermediate Architecture: Phase-Dependent Delay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response remained irregular; this confirmed incomplete common-mode rejection.</a:t>
            </a:r>
            <a:endParaRPr lang="en-US" sz="1150" dirty="0"/>
          </a:p>
        </p:txBody>
      </p:sp>
      <p:pic>
        <p:nvPicPr>
          <p:cNvPr id="4" name="Image 0" descr="/mnt/data/polished_deliverables/figs/emi_phas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78147"/>
            <a:ext cx="5477256" cy="23989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190488"/>
            <a:ext cx="5477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Delay vs phase</a:t>
            </a:r>
            <a:endParaRPr lang="en-US" sz="850" dirty="0"/>
          </a:p>
        </p:txBody>
      </p:sp>
      <p:pic>
        <p:nvPicPr>
          <p:cNvPr id="6" name="Image 1" descr="/mnt/data/polished_deliverables/figs/emi_phas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2757274"/>
            <a:ext cx="5477256" cy="24407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81344" y="6190488"/>
            <a:ext cx="5477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Expanded phase sweep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430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Intermediate Architecture: Falling-Edge Behaviour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Falling edge did not behave symmetrically with rising edge, making delay extraction unreliable.</a:t>
            </a:r>
            <a:endParaRPr lang="en-US" sz="1150" dirty="0"/>
          </a:p>
        </p:txBody>
      </p:sp>
      <p:pic>
        <p:nvPicPr>
          <p:cNvPr id="4" name="Image 0" descr="/mnt/data/polished_deliverables/figs/emi_fal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60152"/>
            <a:ext cx="5477256" cy="2434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190488"/>
            <a:ext cx="5477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Falling-edge response</a:t>
            </a:r>
            <a:endParaRPr lang="en-US" sz="850" dirty="0"/>
          </a:p>
        </p:txBody>
      </p:sp>
      <p:pic>
        <p:nvPicPr>
          <p:cNvPr id="6" name="Image 1" descr="/mnt/data/polished_deliverables/figs/emi_fall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2766878"/>
            <a:ext cx="5477256" cy="24215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81344" y="6190488"/>
            <a:ext cx="5477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Additional falling-edge result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430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Supply and Combined EMI Paths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Supply EMI affected current and threshold; combined EMI produced residual jitter.</a:t>
            </a:r>
            <a:endParaRPr lang="en-US" sz="1150" dirty="0"/>
          </a:p>
        </p:txBody>
      </p:sp>
      <p:pic>
        <p:nvPicPr>
          <p:cNvPr id="4" name="Image 0" descr="/mnt/data/polished_deliverables/figs/emi_supply_t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19469"/>
            <a:ext cx="3584448" cy="39163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190488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Supply EMI testbench</a:t>
            </a:r>
            <a:endParaRPr lang="en-US" sz="850" dirty="0"/>
          </a:p>
        </p:txBody>
      </p:sp>
      <p:pic>
        <p:nvPicPr>
          <p:cNvPr id="6" name="Image 1" descr="/mnt/data/polished_deliverables/figs/emi_supply_de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3189061"/>
            <a:ext cx="3584448" cy="15771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88536" y="6190488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Supply EMI delay</a:t>
            </a:r>
            <a:endParaRPr lang="en-US" sz="850" dirty="0"/>
          </a:p>
        </p:txBody>
      </p:sp>
      <p:pic>
        <p:nvPicPr>
          <p:cNvPr id="8" name="Image 2" descr="/mnt/data/polished_deliverables/figs/emi_all_del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152" y="3182241"/>
            <a:ext cx="3584448" cy="159079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74152" y="6190488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All-port delay response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430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Intermediate Architecture: Mathematical Insight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4892040" cy="5303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 error has multiple sensitivity paths, so only cancelling input common-mode noise is insufficient.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715000" y="1024128"/>
            <a:ext cx="5989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B3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Delta t_d = S_in Delta V_in + S_ref Delta V_ref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715000" y="1591056"/>
            <a:ext cx="5989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5F8F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       + S_DD Delta V_DD + S_SS Delta V_SS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715000" y="2157984"/>
            <a:ext cx="5989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5F8F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If sensitivities are unequal: residual jitter remains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15000" y="2724912"/>
            <a:ext cx="5989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5F8F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Design goal: reduce common-mode terms while preserving delay gain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F8FC"/>
                </a:solidFill>
              </a:rPr>
              <a:t>Final Design Direction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188720" y="3127248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B347"/>
                </a:solidFill>
              </a:rPr>
              <a:t>Compressed differential control around the valid operating point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430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Differential Pair DC Study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0-1.8 V control pushed the pair out of its valid small-signal/saturation region.</a:t>
            </a:r>
            <a:endParaRPr lang="en-US" sz="1150" dirty="0"/>
          </a:p>
        </p:txBody>
      </p:sp>
      <p:pic>
        <p:nvPicPr>
          <p:cNvPr id="4" name="Image 0" descr="/mnt/data/polished_deliverables/figs/diffpair_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05609"/>
            <a:ext cx="5477256" cy="41440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190488"/>
            <a:ext cx="5477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Differential pair schematic</a:t>
            </a:r>
            <a:endParaRPr lang="en-US" sz="850" dirty="0"/>
          </a:p>
        </p:txBody>
      </p:sp>
      <p:pic>
        <p:nvPicPr>
          <p:cNvPr id="6" name="Image 1" descr="/mnt/data/polished_deliverables/figs/diffpair_dc_o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2757601"/>
            <a:ext cx="5477256" cy="244007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81344" y="6190488"/>
            <a:ext cx="5477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DC output mapping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430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Compressed Control Mapping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4892040" cy="5303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rail-to-rail control A is mapped into a small differential swing around 0.9 V.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715000" y="1024128"/>
            <a:ext cx="5989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B3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V_CM = 0.9 V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715000" y="1591056"/>
            <a:ext cx="5989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B3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V_plus = 0.9 + k(A - 0.9)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715000" y="2157984"/>
            <a:ext cx="5989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B3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V_minus = 0.9 - k(A - 0.9)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15000" y="2724912"/>
            <a:ext cx="5989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B3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 ~= 0.15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715000" y="3291840"/>
            <a:ext cx="5989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B3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v_id = 2k(A - 0.9)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430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Compression Helped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4892040" cy="5349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differential-pair transistors remain closer to saturation.</a:t>
            </a:r>
            <a:endParaRPr lang="en-US" sz="1550" dirty="0"/>
          </a:p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Common-mode cancellation assumption becomes more valid.</a:t>
            </a:r>
            <a:endParaRPr lang="en-US" sz="1550" dirty="0"/>
          </a:p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Low-amplitude EMI appears similarly on both branches.</a:t>
            </a:r>
            <a:endParaRPr lang="en-US" sz="1550" dirty="0"/>
          </a:p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Trade-off: compressed input reduces control sensitivity.</a:t>
            </a:r>
            <a:endParaRPr lang="en-US" sz="1550" dirty="0"/>
          </a:p>
        </p:txBody>
      </p:sp>
      <p:pic>
        <p:nvPicPr>
          <p:cNvPr id="4" name="Image 0" descr="/mnt/data/polished_deliverables/figs/diffpair_dc_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163481"/>
            <a:ext cx="5989320" cy="26681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23560" y="6053328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Compressed/small-signal operation around 0.9 V.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430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First Edit: Final Carried-Forward Cadence Direction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actual Cadence-based architecture direction used in the final story. No AI-generated white diagram is used.</a:t>
            </a:r>
            <a:endParaRPr lang="en-US" sz="1150" dirty="0"/>
          </a:p>
        </p:txBody>
      </p:sp>
      <p:pic>
        <p:nvPicPr>
          <p:cNvPr id="4" name="Image 0" descr="/mnt/data/polished_deliverables/figs/edit1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21606"/>
            <a:ext cx="3584448" cy="251206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190488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First edit schematic</a:t>
            </a:r>
            <a:endParaRPr lang="en-US" sz="850" dirty="0"/>
          </a:p>
        </p:txBody>
      </p:sp>
      <p:pic>
        <p:nvPicPr>
          <p:cNvPr id="6" name="Image 1" descr="/mnt/data/polished_deliverables/figs/edit1_de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2654492"/>
            <a:ext cx="3584448" cy="26462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88536" y="6190488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Delay response</a:t>
            </a:r>
            <a:endParaRPr lang="en-US" sz="850" dirty="0"/>
          </a:p>
        </p:txBody>
      </p:sp>
      <p:pic>
        <p:nvPicPr>
          <p:cNvPr id="8" name="Image 2" descr="/mnt/data/polished_deliverables/figs/edit1_em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152" y="2841744"/>
            <a:ext cx="3584448" cy="227179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74152" y="6190488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EMI testbench/result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430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Second Edit: Ruled Out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Single-ended current mirror/tail-control attempt was rejected because delay became nearly constant.</a:t>
            </a:r>
            <a:endParaRPr lang="en-US" sz="1150" dirty="0"/>
          </a:p>
        </p:txBody>
      </p:sp>
      <p:pic>
        <p:nvPicPr>
          <p:cNvPr id="4" name="Image 0" descr="/mnt/data/polished_deliverables/figs/edit2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95468"/>
            <a:ext cx="5477256" cy="35643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190488"/>
            <a:ext cx="5477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Second edit schematic</a:t>
            </a:r>
            <a:endParaRPr lang="en-US" sz="850" dirty="0"/>
          </a:p>
        </p:txBody>
      </p:sp>
      <p:pic>
        <p:nvPicPr>
          <p:cNvPr id="6" name="Image 1" descr="/mnt/data/polished_deliverables/figs/compressed_const_de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2414640"/>
            <a:ext cx="5477256" cy="3126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81344" y="6190488"/>
            <a:ext cx="5477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Nearly constant delay with sweep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430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EMI Observations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55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frequency / low amplitude: partial cancellation. High frequency / high amplitude: residual jitter remains.</a:t>
            </a:r>
            <a:endParaRPr lang="en-US" sz="1150" dirty="0"/>
          </a:p>
        </p:txBody>
      </p:sp>
      <p:pic>
        <p:nvPicPr>
          <p:cNvPr id="4" name="Image 0" descr="/mnt/data/polished_deliverables/figs/final_freq_ph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067502"/>
            <a:ext cx="3584448" cy="18202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190488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Frequency and phase sweep</a:t>
            </a:r>
            <a:endParaRPr lang="en-US" sz="850" dirty="0"/>
          </a:p>
        </p:txBody>
      </p:sp>
      <p:pic>
        <p:nvPicPr>
          <p:cNvPr id="6" name="Image 1" descr="/mnt/data/polished_deliverables/figs/final_freq_sw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3167366"/>
            <a:ext cx="3584448" cy="16205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88536" y="6190488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Frequency-dependent jitter</a:t>
            </a:r>
            <a:endParaRPr lang="en-US" sz="850" dirty="0"/>
          </a:p>
        </p:txBody>
      </p:sp>
      <p:pic>
        <p:nvPicPr>
          <p:cNvPr id="8" name="Image 2" descr="/mnt/data/polished_deliverables/figs/final_avg_freq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152" y="2774620"/>
            <a:ext cx="3584448" cy="240603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74152" y="6190488"/>
            <a:ext cx="3584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Average delay trend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430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Common-Mode Cancellation: Final Equation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4892040" cy="5303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Differential cancellation works only if both branches are matched and equally disturbed.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715000" y="1024128"/>
            <a:ext cx="5989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B3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V_plus = V_CM + v_id/2 + v_cm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715000" y="1591056"/>
            <a:ext cx="5989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B3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V_minus = V_CM - v_id/2 + v_cm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715000" y="2157984"/>
            <a:ext cx="5989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B3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V_plus - V_minus = v_id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15000" y="2724912"/>
            <a:ext cx="5989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B3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T_plus = T(V_plus)+delta_cm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715000" y="3291840"/>
            <a:ext cx="5989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B3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T_minus = T(V_minus)+delta_cm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3858768"/>
            <a:ext cx="5989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B3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Delta T = T_plus - T_minus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D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430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Small-Signal Delay Path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4892040" cy="5303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final analytical link from differential input to delay modulation.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715000" y="1024128"/>
            <a:ext cx="5989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B3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i_o = g_m v_d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715000" y="1591056"/>
            <a:ext cx="5989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B3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v_b = A_v v_d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715000" y="2157984"/>
            <a:ext cx="5989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B3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Delta I = g_m,tail A_v v_d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15000" y="2724912"/>
            <a:ext cx="5989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B3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t_d = C Delta V / (I_0 + Delta I)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715000" y="3291840"/>
            <a:ext cx="59893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B34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Delta t_d ~= -(t_d0/I_0) g_m,tail A_v v_d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430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BTP Contributions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4892040" cy="5349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Documented pre-midsem baseline VTC, PVT and EMI behaviour.</a:t>
            </a:r>
            <a:endParaRPr lang="en-US" sz="1550" dirty="0"/>
          </a:p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 and analyzed SET-H CDC and input-conditioned cells.</a:t>
            </a:r>
            <a:endParaRPr lang="en-US" sz="1550" dirty="0"/>
          </a:p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Identified why direct differential architectures failed.</a:t>
            </a:r>
            <a:endParaRPr lang="en-US" sz="1550" dirty="0"/>
          </a:p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Developed compressed differential control for partial EMI cancellation.</a:t>
            </a:r>
            <a:endParaRPr lang="en-US" sz="1550" dirty="0"/>
          </a:p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Explained remaining high-frequency limitations using CMRR and parasitics.</a:t>
            </a:r>
            <a:endParaRPr lang="en-US" sz="1550" dirty="0"/>
          </a:p>
        </p:txBody>
      </p:sp>
      <p:pic>
        <p:nvPicPr>
          <p:cNvPr id="4" name="Image 0" descr="/mnt/data/polished_deliverables/figs/final_freq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143678"/>
            <a:ext cx="5989320" cy="2707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23560" y="6053328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Final frequency-dependent residual jitter.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4300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BTP Conclusion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4892040" cy="5349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 in a VTC becomes phase-dependent timing jitter.</a:t>
            </a:r>
            <a:endParaRPr lang="en-US" sz="1550" dirty="0"/>
          </a:p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Dual VCDU reduces common PVT variation, but not unequal EMI coupling.</a:t>
            </a:r>
            <a:endParaRPr lang="en-US" sz="1550" dirty="0"/>
          </a:p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Differential architecture helps only when biasing, matching and small-signal operation are preserved.</a:t>
            </a:r>
            <a:endParaRPr lang="en-US" sz="1550" dirty="0"/>
          </a:p>
          <a:p>
            <a:r>
              <a:rPr lang="en-US" sz="15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proposed direction is a Cadence-based compressed differential-control architecture.</a:t>
            </a:r>
            <a:endParaRPr lang="en-US" sz="1550" dirty="0"/>
          </a:p>
        </p:txBody>
      </p:sp>
      <p:pic>
        <p:nvPicPr>
          <p:cNvPr id="4" name="Image 0" descr="/mnt/data/polished_deliverables/figs/edit1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398849"/>
            <a:ext cx="5989320" cy="41974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23560" y="6053328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FC0CF"/>
                </a:solidFill>
              </a:rPr>
              <a:t>Final carried-forward Cadence schematic.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1712</Words>
  <Application>Microsoft Office PowerPoint</Application>
  <PresentationFormat>Widescreen</PresentationFormat>
  <Paragraphs>230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IIT Ropar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BTP EMI in VTC</dc:title>
  <dc:subject>BTP VTC EMI</dc:subject>
  <dc:creator>OpenAI</dc:creator>
  <cp:lastModifiedBy>Jaidev Gatla</cp:lastModifiedBy>
  <cp:revision>1</cp:revision>
  <dcterms:created xsi:type="dcterms:W3CDTF">2026-05-14T12:20:15Z</dcterms:created>
  <dcterms:modified xsi:type="dcterms:W3CDTF">2026-09-01T11:19:38Z</dcterms:modified>
</cp:coreProperties>
</file>